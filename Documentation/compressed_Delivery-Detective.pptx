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4630400" cy="8229600"/>
  <p:notesSz cx="8229600" cy="14630400"/>
  <p:embeddedFontLst>
    <p:embeddedFont>
      <p:font typeface="Petrona"/>
      <p:regular r:id="rId12"/>
    </p:embeddedFont>
    <p:embeddedFont>
      <p:font typeface="Petrona"/>
      <p:regular r:id="rId13"/>
    </p:embeddedFont>
    <p:embeddedFont>
      <p:font typeface="Petrona"/>
      <p:regular r:id="rId14"/>
    </p:embeddedFont>
    <p:embeddedFont>
      <p:font typeface="Petrona"/>
      <p:regular r:id="rId15"/>
    </p:embeddedFont>
    <p:embeddedFont>
      <p:font typeface="Inter"/>
      <p:regular r:id="rId16"/>
    </p:embeddedFont>
    <p:embeddedFont>
      <p:font typeface="Inter"/>
      <p:regular r:id="rId17"/>
    </p:embeddedFont>
    <p:embeddedFont>
      <p:font typeface="Inter"/>
      <p:regular r:id="rId18"/>
    </p:embeddedFont>
    <p:embeddedFont>
      <p:font typeface="Inter"/>
      <p:regular r:id="rId19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font" Target="fonts/font1.fntdata"/><Relationship Id="rId13" Type="http://schemas.openxmlformats.org/officeDocument/2006/relationships/font" Target="fonts/font2.fntdata"/><Relationship Id="rId14" Type="http://schemas.openxmlformats.org/officeDocument/2006/relationships/font" Target="fonts/font3.fntdata"/><Relationship Id="rId15" Type="http://schemas.openxmlformats.org/officeDocument/2006/relationships/font" Target="fonts/font4.fntdata"/><Relationship Id="rId16" Type="http://schemas.openxmlformats.org/officeDocument/2006/relationships/font" Target="fonts/font5.fntdata"/><Relationship Id="rId17" Type="http://schemas.openxmlformats.org/officeDocument/2006/relationships/font" Target="fonts/font6.fntdata"/><Relationship Id="rId18" Type="http://schemas.openxmlformats.org/officeDocument/2006/relationships/font" Target="fonts/font7.fntdata"/><Relationship Id="rId19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630799"/>
            <a:ext cx="7556421" cy="1027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50"/>
              </a:lnSpc>
              <a:buNone/>
            </a:pPr>
            <a:r>
              <a:rPr lang="en-US" sz="64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Delivery Detective</a:t>
            </a:r>
            <a:endParaRPr lang="en-US" sz="6450" dirty="0"/>
          </a:p>
        </p:txBody>
      </p:sp>
      <p:sp>
        <p:nvSpPr>
          <p:cNvPr id="4" name="Text 1"/>
          <p:cNvSpPr/>
          <p:nvPr/>
        </p:nvSpPr>
        <p:spPr>
          <a:xfrm>
            <a:off x="793790" y="2997994"/>
            <a:ext cx="7556421" cy="1190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50"/>
              </a:lnSpc>
              <a:buNone/>
            </a:pPr>
            <a:r>
              <a:rPr lang="en-US" sz="37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AI-Powered E-Commerce Delivery Optimization</a:t>
            </a:r>
            <a:endParaRPr lang="en-US" sz="3750" dirty="0"/>
          </a:p>
        </p:txBody>
      </p:sp>
      <p:sp>
        <p:nvSpPr>
          <p:cNvPr id="5" name="Text 2"/>
          <p:cNvSpPr/>
          <p:nvPr/>
        </p:nvSpPr>
        <p:spPr>
          <a:xfrm>
            <a:off x="793790" y="4529018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Building an intelligent, data-driven system that analyzes delivery issues using NLP, computer vision, weather data, and advanced AI analytics to optimize routes, enhance resilience, and elevate customer satisfaction.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623577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04C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Vaishnawi Pandey (24MBMB08)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692962"/>
            <a:ext cx="6309122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The Delivery Challenge</a:t>
            </a:r>
            <a:endParaRPr lang="en-US" sz="4650" dirty="0"/>
          </a:p>
        </p:txBody>
      </p:sp>
      <p:sp>
        <p:nvSpPr>
          <p:cNvPr id="4" name="Text 1"/>
          <p:cNvSpPr/>
          <p:nvPr/>
        </p:nvSpPr>
        <p:spPr>
          <a:xfrm>
            <a:off x="793790" y="5004197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Current Pain Points</a:t>
            </a:r>
            <a:endParaRPr lang="en-US" sz="2300" dirty="0"/>
          </a:p>
        </p:txBody>
      </p:sp>
      <p:sp>
        <p:nvSpPr>
          <p:cNvPr id="5" name="Text 2"/>
          <p:cNvSpPr/>
          <p:nvPr/>
        </p:nvSpPr>
        <p:spPr>
          <a:xfrm>
            <a:off x="793790" y="5603081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Weather delays and route inefficiency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6045279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Poor packaging causing damage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93790" y="648747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Fragmented data across systems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793790" y="6929676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Unpredictable delivery reliability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7599521" y="5004197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Our Approach</a:t>
            </a:r>
            <a:endParaRPr lang="en-US" sz="2300" dirty="0"/>
          </a:p>
        </p:txBody>
      </p:sp>
      <p:sp>
        <p:nvSpPr>
          <p:cNvPr id="10" name="Text 7"/>
          <p:cNvSpPr/>
          <p:nvPr/>
        </p:nvSpPr>
        <p:spPr>
          <a:xfrm>
            <a:off x="7599521" y="5603081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Fuse AI with multi-source data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7599521" y="6045279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Identify root causes systematically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7599521" y="648747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Quantify resilience with DRI metric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7599521" y="6929676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 transparent, explainable insights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4613" y="652820"/>
            <a:ext cx="5360313" cy="669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42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System Architecture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14613" y="1731169"/>
            <a:ext cx="13201174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comprehensive data pipeline integrating customer feedback, environmental conditions, and logistics data through advanced AI layers.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14613" y="2287548"/>
            <a:ext cx="204192" cy="255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14613" y="2611636"/>
            <a:ext cx="6498431" cy="22860"/>
          </a:xfrm>
          <a:prstGeom prst="rect">
            <a:avLst/>
          </a:prstGeom>
          <a:solidFill>
            <a:srgbClr val="007EBD"/>
          </a:solidFill>
          <a:ln/>
        </p:spPr>
      </p:sp>
      <p:sp>
        <p:nvSpPr>
          <p:cNvPr id="6" name="Text 4"/>
          <p:cNvSpPr/>
          <p:nvPr/>
        </p:nvSpPr>
        <p:spPr>
          <a:xfrm>
            <a:off x="714613" y="2759393"/>
            <a:ext cx="2680097" cy="334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Data Gathering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14613" y="3216831"/>
            <a:ext cx="6498431" cy="653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reviews, weather feeds, package images, GPS coordinates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417237" y="2287548"/>
            <a:ext cx="204192" cy="255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417237" y="2611636"/>
            <a:ext cx="6498550" cy="22860"/>
          </a:xfrm>
          <a:prstGeom prst="rect">
            <a:avLst/>
          </a:prstGeom>
          <a:solidFill>
            <a:srgbClr val="007EBD"/>
          </a:solidFill>
          <a:ln/>
        </p:spPr>
      </p:sp>
      <p:sp>
        <p:nvSpPr>
          <p:cNvPr id="10" name="Text 8"/>
          <p:cNvSpPr/>
          <p:nvPr/>
        </p:nvSpPr>
        <p:spPr>
          <a:xfrm>
            <a:off x="7417237" y="2759393"/>
            <a:ext cx="2680097" cy="334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Feature Engineering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7417237" y="3216831"/>
            <a:ext cx="6498550" cy="653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Sentiment scoring, weather severity, damage indicators, route metrics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14613" y="4227552"/>
            <a:ext cx="204192" cy="255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03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14613" y="4551640"/>
            <a:ext cx="6498431" cy="22860"/>
          </a:xfrm>
          <a:prstGeom prst="rect">
            <a:avLst/>
          </a:prstGeom>
          <a:solidFill>
            <a:srgbClr val="007EBD"/>
          </a:solidFill>
          <a:ln/>
        </p:spPr>
      </p:sp>
      <p:sp>
        <p:nvSpPr>
          <p:cNvPr id="14" name="Text 12"/>
          <p:cNvSpPr/>
          <p:nvPr/>
        </p:nvSpPr>
        <p:spPr>
          <a:xfrm>
            <a:off x="714613" y="4699397"/>
            <a:ext cx="2680097" cy="334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AI Modeling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714613" y="5156835"/>
            <a:ext cx="6498431" cy="653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NLP for sentiment, computer vision for damage, analytics for DRI computation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417237" y="4227552"/>
            <a:ext cx="204192" cy="255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04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417237" y="4551640"/>
            <a:ext cx="6498550" cy="22860"/>
          </a:xfrm>
          <a:prstGeom prst="rect">
            <a:avLst/>
          </a:prstGeom>
          <a:solidFill>
            <a:srgbClr val="007EBD"/>
          </a:solidFill>
          <a:ln/>
        </p:spPr>
      </p:sp>
      <p:sp>
        <p:nvSpPr>
          <p:cNvPr id="18" name="Text 16"/>
          <p:cNvSpPr/>
          <p:nvPr/>
        </p:nvSpPr>
        <p:spPr>
          <a:xfrm>
            <a:off x="7417237" y="4699397"/>
            <a:ext cx="2680097" cy="334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Intelligent Querying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7417237" y="5156835"/>
            <a:ext cx="6498550" cy="653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RAG engine with FAISS and LLMs for context-aware recommendations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14613" y="6167557"/>
            <a:ext cx="204192" cy="255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05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14613" y="6491645"/>
            <a:ext cx="6498431" cy="22860"/>
          </a:xfrm>
          <a:prstGeom prst="rect">
            <a:avLst/>
          </a:prstGeom>
          <a:solidFill>
            <a:srgbClr val="007EBD"/>
          </a:solidFill>
          <a:ln/>
        </p:spPr>
      </p:sp>
      <p:sp>
        <p:nvSpPr>
          <p:cNvPr id="22" name="Text 20"/>
          <p:cNvSpPr/>
          <p:nvPr/>
        </p:nvSpPr>
        <p:spPr>
          <a:xfrm>
            <a:off x="714613" y="6639401"/>
            <a:ext cx="2680097" cy="334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Route Optimization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714613" y="7096839"/>
            <a:ext cx="6498431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NetworkX and OR-Tools for cost minimization and efficiency gains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417237" y="6167557"/>
            <a:ext cx="204192" cy="255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06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417237" y="6491645"/>
            <a:ext cx="6498550" cy="22860"/>
          </a:xfrm>
          <a:prstGeom prst="rect">
            <a:avLst/>
          </a:prstGeom>
          <a:solidFill>
            <a:srgbClr val="007EBD"/>
          </a:solidFill>
          <a:ln/>
        </p:spPr>
      </p:sp>
      <p:sp>
        <p:nvSpPr>
          <p:cNvPr id="26" name="Text 24"/>
          <p:cNvSpPr/>
          <p:nvPr/>
        </p:nvSpPr>
        <p:spPr>
          <a:xfrm>
            <a:off x="7417237" y="6639401"/>
            <a:ext cx="2736294" cy="334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Interactive Dashboard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7417237" y="7096839"/>
            <a:ext cx="6498550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Streamlit visualization with maps, insights, and real-time analytics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793313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Results &amp; Impact</a:t>
            </a:r>
            <a:endParaRPr lang="en-US" sz="4650" dirty="0"/>
          </a:p>
        </p:txBody>
      </p:sp>
      <p:sp>
        <p:nvSpPr>
          <p:cNvPr id="4" name="Text 1"/>
          <p:cNvSpPr/>
          <p:nvPr/>
        </p:nvSpPr>
        <p:spPr>
          <a:xfrm>
            <a:off x="6280190" y="1991082"/>
            <a:ext cx="3636407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10%</a:t>
            </a:r>
            <a:endParaRPr lang="en-US" sz="5850" dirty="0"/>
          </a:p>
        </p:txBody>
      </p:sp>
      <p:sp>
        <p:nvSpPr>
          <p:cNvPr id="5" name="Text 2"/>
          <p:cNvSpPr/>
          <p:nvPr/>
        </p:nvSpPr>
        <p:spPr>
          <a:xfrm>
            <a:off x="6609874" y="3022878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Cost Reduction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6280190" y="3531037"/>
            <a:ext cx="363640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Average travel cost per route optimized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10200084" y="1991082"/>
            <a:ext cx="3636526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3</a:t>
            </a:r>
            <a:endParaRPr lang="en-US" sz="5850" dirty="0"/>
          </a:p>
        </p:txBody>
      </p:sp>
      <p:sp>
        <p:nvSpPr>
          <p:cNvPr id="8" name="Text 5"/>
          <p:cNvSpPr/>
          <p:nvPr/>
        </p:nvSpPr>
        <p:spPr>
          <a:xfrm>
            <a:off x="10529768" y="3022878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Dashboard Modules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10200084" y="3531037"/>
            <a:ext cx="363652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DRI insights, RAG Q&amp;A, route optimization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6280190" y="4597003"/>
            <a:ext cx="3572470" cy="446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Key Achievements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6280190" y="538376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integrated DRI dataset combining sentiment, weather, and damage signals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6280190" y="618886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Deployed RAG engine for intelligent document-based querying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6280190" y="6631067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Identified low-DRI locations requiring logistic improvements</a:t>
            </a:r>
            <a:endParaRPr lang="en-US" sz="1750" dirty="0"/>
          </a:p>
        </p:txBody>
      </p:sp>
      <p:sp>
        <p:nvSpPr>
          <p:cNvPr id="14" name="Text 11"/>
          <p:cNvSpPr/>
          <p:nvPr/>
        </p:nvSpPr>
        <p:spPr>
          <a:xfrm>
            <a:off x="6280190" y="7073265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Validated weather and sentiment as top delay risk predictors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648533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The Path Forward</a:t>
            </a:r>
            <a:endParaRPr lang="en-US" sz="4650" dirty="0"/>
          </a:p>
        </p:txBody>
      </p:sp>
      <p:sp>
        <p:nvSpPr>
          <p:cNvPr id="4" name="Shape 1"/>
          <p:cNvSpPr/>
          <p:nvPr/>
        </p:nvSpPr>
        <p:spPr>
          <a:xfrm>
            <a:off x="6280190" y="1732955"/>
            <a:ext cx="3664744" cy="2065734"/>
          </a:xfrm>
          <a:prstGeom prst="roundRect">
            <a:avLst>
              <a:gd name="adj" fmla="val 4612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14624" y="1967389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Technology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6514624" y="2475548"/>
            <a:ext cx="319587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Multimodal AI fusion, real-time API deployment, advanced analytics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10171748" y="1732955"/>
            <a:ext cx="3664863" cy="2065734"/>
          </a:xfrm>
          <a:prstGeom prst="roundRect">
            <a:avLst>
              <a:gd name="adj" fmla="val 4612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406182" y="1967389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Sustainability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10406182" y="2475548"/>
            <a:ext cx="319599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CO₂ tracking, route efficiency, green logistics optimization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6280190" y="4025503"/>
            <a:ext cx="7556421" cy="1339929"/>
          </a:xfrm>
          <a:prstGeom prst="roundRect">
            <a:avLst>
              <a:gd name="adj" fmla="val 7110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14624" y="4259937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Scale</a:t>
            </a:r>
            <a:endParaRPr lang="en-US" sz="2300" dirty="0"/>
          </a:p>
        </p:txBody>
      </p:sp>
      <p:sp>
        <p:nvSpPr>
          <p:cNvPr id="12" name="Text 9"/>
          <p:cNvSpPr/>
          <p:nvPr/>
        </p:nvSpPr>
        <p:spPr>
          <a:xfrm>
            <a:off x="6514624" y="4768096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Open-source dataset, public demo, industry collaboration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6280190" y="5705594"/>
            <a:ext cx="3572470" cy="446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Business Impact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6280190" y="6492359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Enhanced delivery reliability drives customer satisfaction while providing logistics managers with actionable intelligence to support sustainable, data-driven e-commerce operations at scale.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2025-11-11T17:00:50Z</dcterms:created>
  <dcterms:modified xsi:type="dcterms:W3CDTF">2025-11-11T17:00:50Z</dcterms:modified>
</cp:coreProperties>
</file>